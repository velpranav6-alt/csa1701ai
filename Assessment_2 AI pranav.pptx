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rtl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y="10058400" cx="7772400"/>
  <p:notesSz cx="7772400" cy="100584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1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2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2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48582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46C47B-5627-44BD-961F-E1BFFEF105B4}" type="slidenum">
              <a:t>&lt;#&gt;</a:t>
            </a:fld>
          </a:p>
        </p:txBody>
      </p:sp>
      <p:sp>
        <p:nvSpPr>
          <p:cNvPr id="1048583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defTabSz="914400" indent="0">
              <a:lnSpc>
                <a:spcPct val="100000"/>
              </a:lnSpc>
              <a:buNone/>
            </a:pPr>
            <a:r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buNone/>
              <a:defRPr b="0" sz="1400" lang="en-US" strike="noStrike" u="none">
                <a:solidFill>
                  <a:srgbClr val="000000"/>
                </a:solidFill>
                <a:latin typeface="Arial"/>
              </a:defRPr>
            </a:lvl1pPr>
          </a:lstStyle>
          <a:p>
            <a:pPr algn="ctr" indent="0">
              <a:buNone/>
            </a:pPr>
            <a:r>
              <a:rPr b="0" sz="1400" lang="en-US" strike="noStrike" u="none">
                <a:solidFill>
                  <a:srgbClr val="000000"/>
                </a:solidFill>
                <a:latin typeface="Arial"/>
              </a:rPr>
              <a:t>&lt;footer&gt;</a:t>
            </a:r>
            <a:endParaRPr b="0" sz="14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r"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algn="r" defTabSz="914400" indent="0">
              <a:lnSpc>
                <a:spcPct val="100000"/>
              </a:lnSpc>
              <a:buNone/>
            </a:pPr>
            <a:fld id="{62EDBC40-5380-416D-893D-E34DB97B3B78}" type="slidenum"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9" name="PlaceHolder 4"/>
          <p:cNvSpPr>
            <a:spLocks noGrp="1"/>
          </p:cNvSpPr>
          <p:nvPr>
            <p:ph type="title"/>
          </p:nvPr>
        </p:nvSpPr>
        <p:spPr>
          <a:xfrm>
            <a:off x="388440" y="401040"/>
            <a:ext cx="6994800" cy="1679040"/>
          </a:xfrm>
          <a:prstGeom prst="rect"/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>
              <a:buNone/>
            </a:pPr>
            <a:r>
              <a:rPr b="0" sz="1800" lang="en-US" strike="noStrike" u="none">
                <a:solidFill>
                  <a:schemeClr val="dk1"/>
                </a:solidFill>
                <a:latin typeface="Calibri"/>
              </a:rPr>
              <a:t>Double-tap to edit the title text format</a:t>
            </a:r>
            <a:endParaRPr b="0" sz="1800" lang="en-US" strike="noStrike" u="non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580" name="PlaceHolder 5"/>
          <p:cNvSpPr>
            <a:spLocks noGrp="1"/>
          </p:cNvSpPr>
          <p:nvPr>
            <p:ph type="body"/>
          </p:nvPr>
        </p:nvSpPr>
        <p:spPr>
          <a:xfrm>
            <a:off x="388440" y="2353320"/>
            <a:ext cx="6994800" cy="583344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sz="3200" lang="en-US" strike="noStrike" u="none">
                <a:solidFill>
                  <a:schemeClr val="dk1"/>
                </a:solidFill>
                <a:latin typeface="Calibri"/>
              </a:rPr>
              <a:t>Double-tap to edit the outline text format</a:t>
            </a:r>
            <a:endParaRPr b="0" sz="3200" lang="en-US" strike="noStrike" u="none">
              <a:solidFill>
                <a:schemeClr val="dk1"/>
              </a:solidFill>
              <a:latin typeface="Calibri"/>
            </a:endParaRPr>
          </a:p>
          <a:p>
            <a:pPr indent="-324000" lvl="1" marL="86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sz="2400" lang="en-US" strike="noStrike" u="none">
                <a:solidFill>
                  <a:schemeClr val="dk1"/>
                </a:solidFill>
                <a:latin typeface="Calibri"/>
              </a:rPr>
              <a:t>Second Outline Level</a:t>
            </a:r>
            <a:endParaRPr b="0" sz="2400" lang="en-US" strike="noStrike" u="none">
              <a:solidFill>
                <a:schemeClr val="dk1"/>
              </a:solidFill>
              <a:latin typeface="Calibri"/>
            </a:endParaRPr>
          </a:p>
          <a:p>
            <a:pPr indent="-288000" lvl="2" marL="1296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Third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3" marL="1728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Fourth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4" marL="2160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Fifth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5" marL="2592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Sixth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6" marL="3024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Seventh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3"/>
          <p:cNvGraphicFramePr>
            <a:graphicFrameLocks/>
          </p:cNvGraphicFramePr>
          <p:nvPr/>
        </p:nvGraphicFramePr>
        <p:xfrm>
          <a:off x="660240" y="1580040"/>
          <a:ext cx="6451200" cy="1145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65320">
                <a:tc>
                  <a:txBody>
                    <a:bodyPr anchor="t" bIns="0" lIns="0" rIns="0" tIns="13680">
                      <a:noAutofit/>
                    </a:bodyPr>
                    <a:p>
                      <a:pPr defTabSz="914400" marL="68760">
                        <a:lnSpc>
                          <a:spcPts val="1029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NAME: Artificial Intelligence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680">
                      <a:noAutofit/>
                    </a:bodyPr>
                    <a:p>
                      <a:pPr defTabSz="914400" marL="68760">
                        <a:lnSpc>
                          <a:spcPts val="1029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CODE: CSA17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79840">
                <a:tc gridSpan="2">
                  <a:txBody>
                    <a:bodyPr anchor="t" bIns="0" lIns="0" rIns="0" tIns="0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1040"/>
                        </a:lnSpc>
                        <a:spcBef>
                          <a:spcPts val="99"/>
                        </a:spcBef>
                        <a:tabLst>
                          <a:tab algn="l" pos="0"/>
                        </a:tabLst>
                      </a:pPr>
                      <a:r>
                        <a:rPr b="0" sz="800" lang="en-US" spc="-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OUTCOME COVERED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1040"/>
                        </a:lnSpc>
                        <a:spcBef>
                          <a:spcPts val="581"/>
                        </a:spcBef>
                        <a:tabLst>
                          <a:tab algn="l" pos="0"/>
                        </a:tabLst>
                      </a:pPr>
                      <a:r>
                        <a:rPr b="0" sz="80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CO1: Apply AI basics such as intelligent agents and uninformed search methods to solve problems effectively. (BL3)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1040"/>
                        </a:lnSpc>
                        <a:spcBef>
                          <a:spcPts val="2239"/>
                        </a:spcBef>
                        <a:tabLst>
                          <a:tab algn="l" pos="0"/>
                        </a:tabLst>
                      </a:pPr>
                      <a:r>
                        <a:rPr b="0" sz="8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Assessment Tool Weightage: 35%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anchor="t" bIns="45000" lIns="90000" rIns="90000" tIns="45000">
                      <a:noAutofit/>
                    </a:bodyPr>
                    <a:p>
                      <a:endParaRPr b="0" sz="1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</a:tr>
            </a:tbl>
          </a:graphicData>
        </a:graphic>
      </p:graphicFrame>
      <p:sp>
        <p:nvSpPr>
          <p:cNvPr id="1048584" name="TextBox 2"/>
          <p:cNvSpPr/>
          <p:nvPr/>
        </p:nvSpPr>
        <p:spPr>
          <a:xfrm>
            <a:off x="2735640" y="603360"/>
            <a:ext cx="2294640" cy="579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sz="1550" lang="en" spc="-14" strike="noStrike" u="none">
                <a:solidFill>
                  <a:srgbClr val="000000"/>
                </a:solidFill>
                <a:latin typeface="Times New Roman"/>
              </a:rPr>
              <a:t>SIMATS ENGINEERING</a:t>
            </a:r>
            <a:endParaRPr b="0" sz="15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83320">
              <a:lnSpc>
                <a:spcPts val="1429"/>
              </a:lnSpc>
              <a:spcBef>
                <a:spcPts val="1389"/>
              </a:spcBef>
              <a:tabLst>
                <a:tab algn="l" pos="0"/>
              </a:tabLst>
            </a:pPr>
            <a:r>
              <a:rPr b="1" sz="1250" lang="en-US" spc="17" strike="noStrike" u="none">
                <a:solidFill>
                  <a:srgbClr val="000000"/>
                </a:solidFill>
                <a:latin typeface="Times New Roman"/>
              </a:rPr>
              <a:t>ASSESSMENT TOOL 2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5" name="TextBox 4"/>
          <p:cNvSpPr/>
          <p:nvPr/>
        </p:nvSpPr>
        <p:spPr>
          <a:xfrm>
            <a:off x="659160" y="2999880"/>
            <a:ext cx="6265800" cy="2412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 marL="2044800">
              <a:lnSpc>
                <a:spcPts val="989"/>
              </a:lnSpc>
              <a:tabLst>
                <a:tab algn="l" pos="0"/>
              </a:tabLst>
            </a:pPr>
            <a:r>
              <a:rPr b="1" sz="900" lang="en" spc="-3" strike="noStrike" u="none">
                <a:solidFill>
                  <a:srgbClr val="000000"/>
                </a:solidFill>
                <a:latin typeface="Times New Roman"/>
              </a:rPr>
              <a:t>QUESTIONS: 3                         Duration: 1 Hour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832120">
              <a:lnSpc>
                <a:spcPts val="989"/>
              </a:lnSpc>
              <a:spcBef>
                <a:spcPts val="558"/>
              </a:spcBef>
              <a:tabLst>
                <a:tab algn="l" pos="0"/>
              </a:tabLst>
            </a:pPr>
            <a:r>
              <a:rPr b="1" sz="900" lang="en-US" strike="noStrike" u="none">
                <a:solidFill>
                  <a:srgbClr val="000000"/>
                </a:solidFill>
                <a:latin typeface="Times New Roman"/>
              </a:rPr>
              <a:t>Total Marks: 30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799000">
              <a:lnSpc>
                <a:spcPts val="1440"/>
              </a:lnSpc>
              <a:spcBef>
                <a:spcPts val="918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Annexure A 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002680">
              <a:lnSpc>
                <a:spcPts val="1440"/>
              </a:lnSpc>
              <a:spcBef>
                <a:spcPts val="3061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Constraint-Based Problem Solving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3169"/>
              </a:spcBef>
              <a:tabLst>
                <a:tab algn="l" pos="0"/>
              </a:tabLst>
            </a:pPr>
            <a:r>
              <a:rPr b="1" sz="900" lang="en-US" spc="-6" strike="noStrike" u="none">
                <a:solidFill>
                  <a:srgbClr val="000000"/>
                </a:solidFill>
                <a:latin typeface="Times New Roman"/>
              </a:rPr>
              <a:t>Code of Conduct: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I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l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n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g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n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o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: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1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9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1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2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2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6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0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2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4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7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certify that this submission is my original work and that I have adhered to the guidelines specified for this assessment. I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9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understand that any violation of academic integrity rules will result in disciplinary action.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Signature of the student: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l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n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0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Table 3"/>
          <p:cNvGraphicFramePr>
            <a:graphicFrameLocks/>
          </p:cNvGraphicFramePr>
          <p:nvPr/>
        </p:nvGraphicFramePr>
        <p:xfrm>
          <a:off x="660240" y="1690200"/>
          <a:ext cx="6451200" cy="16279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590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946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Definition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Variables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D1, D2, D3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Domains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variable has domain {Morning, Afternoon, Night}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All-different constraint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D1, D2 and D3 must be assigned different shifts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Unary constraints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≠ Night; D3 ≠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Ordering constraint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must be assigned an earlier shift than D3: Morning &lt; Afternoon &lt;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Find a complete assignment satisfying every constraint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6" name="Table 4"/>
          <p:cNvGraphicFramePr>
            <a:graphicFrameLocks/>
          </p:cNvGraphicFramePr>
          <p:nvPr/>
        </p:nvGraphicFramePr>
        <p:xfrm>
          <a:off x="660240" y="3886200"/>
          <a:ext cx="6451200" cy="21459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10280"/>
                <a:gridCol w="1615320"/>
                <a:gridCol w="1613880"/>
                <a:gridCol w="1611360"/>
              </a:tblGrid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7099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3074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Assignment considered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4345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Constraint check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235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Decision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=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Allowed; earliest shift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D3 = Afternoon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is before D3; D3 is not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=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Violates D1 ≠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Reject and backtrack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= Afternoon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Conflicts with D3 = Afternoon (one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doctor per shift)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Reject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Backtrack D3; try D3 = 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 = Morning is before D3 =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Night; D3 not Morning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9960"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D1 = Afternoon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Different from D2 and D3; D1 not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51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Night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Accept; complete solution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86" name="TextBox 2"/>
          <p:cNvSpPr/>
          <p:nvPr/>
        </p:nvSpPr>
        <p:spPr>
          <a:xfrm>
            <a:off x="659160" y="596880"/>
            <a:ext cx="6248160" cy="10015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1. Doctor-to-Shift Assignment Using Backtracking Search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A hospital must assign doctors D1, D2 and D3 to Morning, Afternoon and Night shifts. Each doctor must receive exactly one shift, each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shift must have exactly one doctor, D1 cannot work Night, D2 must work before D3, and D3 cannot work Morning.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Constraint satisfaction formulation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7" name="TextBox 5"/>
          <p:cNvSpPr/>
          <p:nvPr/>
        </p:nvSpPr>
        <p:spPr>
          <a:xfrm>
            <a:off x="659160" y="3642480"/>
            <a:ext cx="2637360" cy="156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6" strike="noStrike" u="none">
                <a:solidFill>
                  <a:srgbClr val="000000"/>
                </a:solidFill>
                <a:latin typeface="Times New Roman"/>
              </a:rPr>
              <a:t>Backtracking search with constraint checks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8" name="TextBox 6"/>
          <p:cNvSpPr/>
          <p:nvPr/>
        </p:nvSpPr>
        <p:spPr>
          <a:xfrm>
            <a:off x="659160" y="6301800"/>
            <a:ext cx="6431040" cy="564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sz="900" lang="en" spc="-6" strike="noStrike" u="none">
                <a:solidFill>
                  <a:srgbClr val="000000"/>
                </a:solidFill>
                <a:latin typeface="Times New Roman"/>
              </a:rPr>
              <a:t>Final valid schedule: Morning — D2  |  Afternoon — D1  |  Night — D3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All three doctors receive exactly one shift and each shift has one doctor. D1 is not assigned to Night, D3 is not assigned to Morning, and D2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works before D3. Therefore, the final schedule satisfies all stated constraints.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AutoShape 3"/>
          <p:cNvSpPr/>
          <p:nvPr/>
        </p:nvSpPr>
        <p:spPr>
          <a:xfrm>
            <a:off x="4602600" y="2144880"/>
            <a:ext cx="1151640" cy="247320"/>
          </a:xfrm>
          <a:prstGeom prst="rect"/>
          <a:solidFill>
            <a:srgbClr val="EAF1F7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0" name="AutoShape 4"/>
          <p:cNvSpPr/>
          <p:nvPr/>
        </p:nvSpPr>
        <p:spPr>
          <a:xfrm>
            <a:off x="5892840" y="2144880"/>
            <a:ext cx="1151640" cy="247320"/>
          </a:xfrm>
          <a:prstGeom prst="rect"/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1" name="AutoShape 5"/>
          <p:cNvSpPr/>
          <p:nvPr/>
        </p:nvSpPr>
        <p:spPr>
          <a:xfrm>
            <a:off x="4602600" y="2396520"/>
            <a:ext cx="1151640" cy="251280"/>
          </a:xfrm>
          <a:prstGeom prst="rect"/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2" name="AutoShape 6"/>
          <p:cNvSpPr/>
          <p:nvPr/>
        </p:nvSpPr>
        <p:spPr>
          <a:xfrm>
            <a:off x="5892840" y="2396520"/>
            <a:ext cx="1151640" cy="251280"/>
          </a:xfrm>
          <a:prstGeom prst="rect"/>
          <a:solidFill>
            <a:srgbClr val="EAF1F7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3" name="AutoShape 7"/>
          <p:cNvSpPr/>
          <p:nvPr/>
        </p:nvSpPr>
        <p:spPr>
          <a:xfrm>
            <a:off x="5892840" y="2653200"/>
            <a:ext cx="1151640" cy="245880"/>
          </a:xfrm>
          <a:prstGeom prst="rect"/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194307" name="Table 8"/>
          <p:cNvGraphicFramePr>
            <a:graphicFrameLocks/>
          </p:cNvGraphicFramePr>
          <p:nvPr/>
        </p:nvGraphicFramePr>
        <p:xfrm>
          <a:off x="660240" y="1887120"/>
          <a:ext cx="6451200" cy="12708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91320"/>
                <a:gridCol w="1288800"/>
                <a:gridCol w="1290240"/>
                <a:gridCol w="1290240"/>
                <a:gridCol w="1290240"/>
              </a:tblGrid>
              <a:tr h="25128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134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DCEEE8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  <a:tr h="25632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60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11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111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52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  <a:tr h="25128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5360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53604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08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trike="noStrike" u="none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■</a:t>
                      </a:r>
                      <a:endParaRPr b="0" sz="8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5346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32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604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5346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sz="8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 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2600">
                      <a:noAutofit/>
                    </a:bodyPr>
                    <a:p>
                      <a:pPr defTabSz="914400" marL="599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sz="800" lang="en-US" spc="-2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</a:t>
                      </a:r>
                      <a:endParaRPr b="0" sz="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DCEE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8" name="Table 9"/>
          <p:cNvGraphicFramePr>
            <a:graphicFrameLocks/>
          </p:cNvGraphicFramePr>
          <p:nvPr/>
        </p:nvGraphicFramePr>
        <p:xfrm>
          <a:off x="660240" y="3926880"/>
          <a:ext cx="6451200" cy="196704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5102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Item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449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Explanation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472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Robot's current grid cell (row, column)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Up, Down, Left, Right, if the destination cell is inside the grid and not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blocked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Step cost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for every movement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BFS frontier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FIFO queue; nodes are expanded in order of discovery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114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Manhattan distance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h(n) = |row − goal_row| + |column − goal_column|; included as requested,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but BFS itself does not prioritize by h(n)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9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Optimality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BFS finds a shortest path when every move has equal cost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4" name="TextBox 2"/>
          <p:cNvSpPr/>
          <p:nvPr/>
        </p:nvSpPr>
        <p:spPr>
          <a:xfrm>
            <a:off x="659160" y="596880"/>
            <a:ext cx="6481800" cy="11984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14" strike="noStrike" u="none">
                <a:solidFill>
                  <a:srgbClr val="000000"/>
                </a:solidFill>
                <a:latin typeface="Times New Roman"/>
              </a:rPr>
              <a:t>2. Robot Navigation in a 5 × 5 Grid Using BFS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The question specifies four-direction movement, unit cost per move, blocked obstacles, and Manhattan distance as a heuristic. However, the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supplied question paper does not show the locations of the obstacles or the exact cells for S and G. To demonstrate the requested method, the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following is an explicitly illustrative grid; the path would change if the intended obstacle layout differs.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Illustrative grid (assumption for demonstration)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TextBox 10"/>
          <p:cNvSpPr/>
          <p:nvPr/>
        </p:nvSpPr>
        <p:spPr>
          <a:xfrm>
            <a:off x="659160" y="3163680"/>
            <a:ext cx="6184440" cy="6764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Legend: S = start (0,0); G = goal (4,4); ■ = blocked cell. Coordinates are (row, column). Neighbours are considered in the order Right,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Down, Left, Up for a reproducible trace.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51"/>
              </a:spcBef>
              <a:tabLst>
                <a:tab algn="l" pos="0"/>
              </a:tabLst>
            </a:pPr>
            <a:r>
              <a:rPr b="1" sz="1100" lang="en-US" spc="11" strike="noStrike" u="none">
                <a:solidFill>
                  <a:srgbClr val="000000"/>
                </a:solidFill>
                <a:latin typeface="Times New Roman"/>
              </a:rPr>
              <a:t>Search properties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9" name="Table 3"/>
          <p:cNvGraphicFramePr>
            <a:graphicFrameLocks/>
          </p:cNvGraphicFramePr>
          <p:nvPr/>
        </p:nvGraphicFramePr>
        <p:xfrm>
          <a:off x="660240" y="1369080"/>
          <a:ext cx="6451200" cy="539964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10280"/>
                <a:gridCol w="1615320"/>
                <a:gridCol w="1613880"/>
                <a:gridCol w="1611360"/>
              </a:tblGrid>
              <a:tr h="407520"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5767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Expansion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4903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Node removed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8640">
                      <a:noAutofit/>
                    </a:bodyPr>
                    <a:p>
                      <a:pPr defTabSz="914400" marL="17388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New valid neighbours (Right, 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 marL="32004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Down, Left, Up order)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8640">
                      <a:noAutofit/>
                    </a:bodyPr>
                    <a:p>
                      <a:pPr defTabSz="914400" marL="3225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Queue after expansion 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 marL="51444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(abbreviated)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(0,0)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(0,1), (1,0)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(0,1), (1,0)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(1,0), (0,2)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(0,2), (2,0)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(2,0), (0,3)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(2,1), (3,0)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(0,3), (2,1), (3,0)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(0,4), (1,3)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(2,1), (3,0), (0,4), (1,3)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(2,2), (3,1)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(3,0), (0,4), (1,3), (2,2), (3,1)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(0,4), (1,3), (2,2), (3,1), (4,0)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(1,3), (2,2), (3,1), (4,0), (1,4)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(2,2), (3,1), (4,0), (1,4), 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(blocked neighbours skipped; (2,3)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already discovered)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(3,1), (4,0), (1,4), 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(4,0), (1,4), (2,3), 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(4,0)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 already discovered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(1,4), (2,3), 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14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(1,4)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(2,3), (4,1), 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(3,3) blocked; (2,4) already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discovered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9504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(4,1), 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16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(4,1)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(2,4), (4,2)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17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(4,2), (3,4)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(4,2)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(3,4), (4,3)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(3,4)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(4,4) = 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(4,3), 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068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(4,3)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already discovered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6" name="TextBox 2"/>
          <p:cNvSpPr/>
          <p:nvPr/>
        </p:nvSpPr>
        <p:spPr>
          <a:xfrm>
            <a:off x="659160" y="596880"/>
            <a:ext cx="6409440" cy="6537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14" strike="noStrike" u="none">
                <a:solidFill>
                  <a:srgbClr val="000000"/>
                </a:solidFill>
                <a:latin typeface="Times New Roman"/>
              </a:rPr>
              <a:t>2. Robot Navigation — Node Expansion and Result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Using the illustrative grid on the previous page, breadth-first search (BFS) stores discovered cells in a FIFO queue and marks them visited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when enqueued. The heuristic is calculated for reference; unlike Greedy Best-First Search or A*, it does not change BFS's expansion order.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7" name="TextBox 4"/>
          <p:cNvSpPr/>
          <p:nvPr/>
        </p:nvSpPr>
        <p:spPr>
          <a:xfrm>
            <a:off x="659160" y="7038360"/>
            <a:ext cx="6427080" cy="5698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sz="900" lang="en" spc="23" strike="noStrike" u="none">
                <a:solidFill>
                  <a:srgbClr val="000000"/>
                </a:solidFill>
                <a:latin typeface="Times New Roman"/>
              </a:rPr>
              <a:t>One shortest path: (0,0) → (0,1) → (0,2) → (0,3) → (0,4) → (1,4) → (2,4) → (3,4) → (4,4)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1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Path cost = 8 moves × 1 per move = 8. This result is for the illustrative obstacle arrangement only. If the instructor intended a different grid,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01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use that layout and repeat the BFS trace.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0" name="Table 3"/>
          <p:cNvGraphicFramePr>
            <a:graphicFrameLocks/>
          </p:cNvGraphicFramePr>
          <p:nvPr/>
        </p:nvGraphicFramePr>
        <p:xfrm>
          <a:off x="660240" y="1690200"/>
          <a:ext cx="6451200" cy="2900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286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3780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10476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Effect on decision-making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114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Four-direction movement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Only up, down, left and right successors may be considered; diagonal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shortcuts are not allowed.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Blocked cells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robot must reject known blocked cells and avoid routes that pass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through them.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74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Limited sensing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complete map is not initially available; the robot must infer the local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 and explore carefully.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Movement cost 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ordinary move adds 1 to accumulated path cost.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74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Risk-zone surcharge +2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Entering a risky cell costs 1 + 2 = 3, so the robot should compare routes by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total cost, not distance alone.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9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 knowledge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New observations may reveal an obstacle or a safe passage, requiring the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internal map and plan to be updated.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9852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Safety requirement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robot should favour verified traversable routes and avoid unnecessary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exposure to risk.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98" name="TextBox 2"/>
          <p:cNvSpPr/>
          <p:nvPr/>
        </p:nvSpPr>
        <p:spPr>
          <a:xfrm>
            <a:off x="659160" y="596880"/>
            <a:ext cx="6263280" cy="10015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3. Autonomous Rescue Robot in a Partially Observable Building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The rescue robot must move from S to survivor location G in a grid with blocked cells and limited sensing. It can observe only adjacent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cells, movement costs 1, entering a risky zone adds 2, and the robot must update its knowledge online while prioritizing safe navigation.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a) How the constraints affect decisions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9" name="TextBox 4"/>
          <p:cNvSpPr/>
          <p:nvPr/>
        </p:nvSpPr>
        <p:spPr>
          <a:xfrm>
            <a:off x="659160" y="4927680"/>
            <a:ext cx="6434640" cy="1527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-6" strike="noStrike" u="none">
                <a:solidFill>
                  <a:srgbClr val="000000"/>
                </a:solidFill>
                <a:latin typeface="Times New Roman"/>
              </a:rPr>
              <a:t>Cost model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8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For a path P, total cost can be expressed as: Cost(P) = number of moves + 2 × number of risky cells entered. This formula assumes the extra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risk cost is charged once whenever a risky cell is entered; if the problem defines risk differently, the cost model should be adjusted.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51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b) Suitable approach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8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Use an online search agent with a model-based internal map, and apply Uniform Cost Search (UCS) to the currently known traversable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graph. UCS expands the frontier node with the smallest accumulated cost g(n). When the robot discovers new information, it updates the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map and replans. This is more appropriate than plain BFS when risky cells have additional costs, because not all transitions have equal cost.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Table 3"/>
          <p:cNvGraphicFramePr>
            <a:graphicFrameLocks/>
          </p:cNvGraphicFramePr>
          <p:nvPr/>
        </p:nvGraphicFramePr>
        <p:xfrm>
          <a:off x="660240" y="4155480"/>
          <a:ext cx="6451200" cy="17470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49920"/>
                <a:gridCol w="2149920"/>
                <a:gridCol w="2151360"/>
              </a:tblGrid>
              <a:tr h="233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9561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108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What the robot does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8370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AI concept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Perceive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Sense adjacent cells and identify blocked, open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or risky spaces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Perception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Update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Revise internal map and current position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estimate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Model-based agent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Compare known paths using accumulated cost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Search / rational choice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472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Take the next safe step on the selected route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Learn and replan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 new observations to revise route decisions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Online search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2" name="Table 4"/>
          <p:cNvGraphicFramePr>
            <a:graphicFrameLocks/>
          </p:cNvGraphicFramePr>
          <p:nvPr/>
        </p:nvGraphicFramePr>
        <p:xfrm>
          <a:off x="660240" y="6470640"/>
          <a:ext cx="6451200" cy="24940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225600"/>
                <a:gridCol w="3225600"/>
              </a:tblGrid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14324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Concept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10198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Application to rescue robot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anchor="t" bIns="0" lIns="0" rIns="0" tIns="939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Intelligent agent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Receives percepts through sensors and acts through movement controls to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reach the survivor.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Rationality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Chooses the action expected to achieve the goal with the lowest known cost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while respecting safety and available information.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Partially observable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robot sees adjacent cells only; it cannot initially know the whole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building layout.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Sequential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movement affects later options and the final route cost.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Stochastic / uncertain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Conditions may be unknown and observations can reveal unexpected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obstacles or hazards.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4920">
                <a:tc>
                  <a:txBody>
                    <a:bodyPr anchor="t" bIns="0" lIns="0" rIns="0" tIns="874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 knowledge / online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internal map changes as the robot explores, so planning is repeated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when needed.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600" name="TextBox 2"/>
          <p:cNvSpPr/>
          <p:nvPr/>
        </p:nvSpPr>
        <p:spPr>
          <a:xfrm>
            <a:off x="659160" y="596880"/>
            <a:ext cx="4508280" cy="3471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3. Rescue Robot — Search Procedure and AI Concepts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Online UCS procedure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63800">
              <a:lnSpc>
                <a:spcPts val="870"/>
              </a:lnSpc>
              <a:spcBef>
                <a:spcPts val="1001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INITIALISE map with current cell S and unknown neighbouring cells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638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WHILE survivor G has not been reached: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observe adjacent cells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53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update internal map: free, blocked, risky, or unknown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499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construct graph from currently known safe/traversable cells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499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run UCS from current position toward G using accumulated cost g(n)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530"/>
              </a:spcBef>
              <a:tabLst>
                <a:tab algn="l" pos="0"/>
              </a:tabLst>
            </a:pP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IF a route is known: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9196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pc="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3" strike="noStrike" u="none">
                <a:solidFill>
                  <a:srgbClr val="000000"/>
                </a:solidFill>
                <a:latin typeface="Times New Roman"/>
              </a:rPr>
              <a:t>execute the first safe move on the least-cost route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0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ELSE: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91960">
              <a:lnSpc>
                <a:spcPts val="879"/>
              </a:lnSpc>
              <a:spcBef>
                <a:spcPts val="530"/>
              </a:spcBef>
              <a:tabLst>
                <a:tab algn="l" pos="0"/>
              </a:tabLst>
            </a:pP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6" strike="noStrike" u="none">
                <a:solidFill>
                  <a:srgbClr val="000000"/>
                </a:solidFill>
                <a:latin typeface="Times New Roman"/>
              </a:rPr>
              <a:t>choose a safe frontier cell that may reveal new space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update position and path cost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IF new obstacle or risk information appears: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91960">
              <a:lnSpc>
                <a:spcPts val="879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750" lang="en-US" spc="-3" strike="noStrike" u="none">
                <a:solidFill>
                  <a:srgbClr val="000000"/>
                </a:solidFill>
                <a:latin typeface="Times New Roman"/>
              </a:rPr>
              <a:t>update map and replan 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638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750" lang="en-US" strike="noStrike" u="none">
                <a:solidFill>
                  <a:srgbClr val="000000"/>
                </a:solidFill>
                <a:latin typeface="Times New Roman"/>
              </a:rPr>
              <a:t>STOP when G is reached; report total cost and route</a:t>
            </a:r>
            <a:endParaRPr b="0" sz="7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00"/>
              </a:spcBef>
              <a:tabLst>
                <a:tab algn="l" pos="0"/>
              </a:tabLst>
            </a:pPr>
            <a:r>
              <a:rPr b="1" sz="1100" lang="en-US" spc="-6" strike="noStrike" u="none">
                <a:solidFill>
                  <a:srgbClr val="000000"/>
                </a:solidFill>
                <a:latin typeface="Times New Roman"/>
              </a:rPr>
              <a:t>Decision cycle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1" name="TextBox 5"/>
          <p:cNvSpPr/>
          <p:nvPr/>
        </p:nvSpPr>
        <p:spPr>
          <a:xfrm>
            <a:off x="659160" y="6226920"/>
            <a:ext cx="3250800" cy="156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3" strike="noStrike" u="none">
                <a:solidFill>
                  <a:srgbClr val="000000"/>
                </a:solidFill>
                <a:latin typeface="Times New Roman"/>
              </a:rPr>
              <a:t>c) Intelligent agents, rationality and environment type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Table 3"/>
          <p:cNvGraphicFramePr>
            <a:graphicFrameLocks/>
          </p:cNvGraphicFramePr>
          <p:nvPr/>
        </p:nvGraphicFramePr>
        <p:xfrm>
          <a:off x="660240" y="3726360"/>
          <a:ext cx="6451200" cy="9190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10280"/>
                <a:gridCol w="1615320"/>
                <a:gridCol w="1613880"/>
                <a:gridCol w="1611360"/>
              </a:tblGrid>
              <a:tr h="23220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4532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Candidate route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642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Moves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3974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Risky cells entered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5968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Total cost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Route A: shorter but crosses risk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+ (2 × 2) = 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Route B: longer, avoids risk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8 + (0 × 2) = 8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196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Route C: longer with one risky cell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98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7 + (1 × 2) = 9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02" name="TextBox 2"/>
          <p:cNvSpPr/>
          <p:nvPr/>
        </p:nvSpPr>
        <p:spPr>
          <a:xfrm>
            <a:off x="659160" y="596880"/>
            <a:ext cx="4900680" cy="609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-3" strike="noStrike" u="none">
                <a:solidFill>
                  <a:srgbClr val="000000"/>
                </a:solidFill>
                <a:latin typeface="Times New Roman"/>
              </a:rPr>
              <a:t>3. Rescue Robot — Justification and Worked Cost Example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d) Why online search with UCS is suitable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3" name="TextBox 4"/>
          <p:cNvSpPr/>
          <p:nvPr/>
        </p:nvSpPr>
        <p:spPr>
          <a:xfrm>
            <a:off x="659160" y="1289160"/>
            <a:ext cx="51840" cy="3452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4" name="TextBox 5"/>
          <p:cNvSpPr/>
          <p:nvPr/>
        </p:nvSpPr>
        <p:spPr>
          <a:xfrm>
            <a:off x="887760" y="1303200"/>
            <a:ext cx="6225120" cy="3312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Partial observability: the robot can plan only from currently available information, then update its map after sensing adjacent cells.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Different route costs: a normal move costs 1, while entering a risky zone costs 3 in total. UCS handles non-negative, non-uniform costs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5" name="TextBox 6"/>
          <p:cNvSpPr/>
          <p:nvPr/>
        </p:nvSpPr>
        <p:spPr>
          <a:xfrm>
            <a:off x="887760" y="1705680"/>
            <a:ext cx="5969880" cy="528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11" strike="noStrike" u="none">
                <a:solidFill>
                  <a:srgbClr val="000000"/>
                </a:solidFill>
                <a:latin typeface="Times New Roman"/>
              </a:rPr>
              <a:t>directly.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Safety-aware choices: risky cells can be represented with larger transition costs, discouraging them when a safer, lower-cost route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6" strike="noStrike" u="none">
                <a:solidFill>
                  <a:srgbClr val="000000"/>
                </a:solidFill>
                <a:latin typeface="Times New Roman"/>
              </a:rPr>
              <a:t>exists.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6" name="TextBox 7"/>
          <p:cNvSpPr/>
          <p:nvPr/>
        </p:nvSpPr>
        <p:spPr>
          <a:xfrm>
            <a:off x="659160" y="2300040"/>
            <a:ext cx="51840" cy="3452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7" name="TextBox 8"/>
          <p:cNvSpPr/>
          <p:nvPr/>
        </p:nvSpPr>
        <p:spPr>
          <a:xfrm>
            <a:off x="887760" y="2314080"/>
            <a:ext cx="6222600" cy="3312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Replanning: when a blocked cell or risk zone is discovered, the robot updates the graph and searches again.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Optimality on the known graph: with non-negative edge costs, UCS finds a least-cost path to the goal in the graph it currently knows. It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8" name="TextBox 9"/>
          <p:cNvSpPr/>
          <p:nvPr/>
        </p:nvSpPr>
        <p:spPr>
          <a:xfrm>
            <a:off x="659160" y="2715120"/>
            <a:ext cx="5969880" cy="891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 marL="2286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cannot guarantee a globally optimal real-world route if important parts of the map remain unknown.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pc="3" strike="noStrike" u="none">
                <a:solidFill>
                  <a:srgbClr val="000000"/>
                </a:solidFill>
                <a:latin typeface="Times New Roman"/>
              </a:rPr>
              <a:t>Illustrative route-cost comparison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72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The source question does not provide a specific rescue grid or mark which cells are risky. The table below is a generic example to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demonstrate the cost rule, not a claimed solution for an unspecified map.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9" name="TextBox 10"/>
          <p:cNvSpPr/>
          <p:nvPr/>
        </p:nvSpPr>
        <p:spPr>
          <a:xfrm>
            <a:off x="659160" y="4911120"/>
            <a:ext cx="6383880" cy="6728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In this example, Route B is preferred because its total cost is 8, lower than the other candidate routes, even though it uses more moves than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Route A. This demonstrates why distance alone is not enough when risk has an additional penalty.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11"/>
              </a:spcBef>
              <a:tabLst>
                <a:tab algn="l" pos="0"/>
              </a:tabLst>
            </a:pPr>
            <a:r>
              <a:rPr b="1" sz="1100" lang="en-US" strike="noStrike" u="none">
                <a:solidFill>
                  <a:srgbClr val="000000"/>
                </a:solidFill>
                <a:latin typeface="Times New Roman"/>
              </a:rPr>
              <a:t>Implementation considerations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0" name="TextBox 11"/>
          <p:cNvSpPr/>
          <p:nvPr/>
        </p:nvSpPr>
        <p:spPr>
          <a:xfrm>
            <a:off x="659160" y="5671800"/>
            <a:ext cx="51840" cy="9572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47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1" name="TextBox 12"/>
          <p:cNvSpPr/>
          <p:nvPr/>
        </p:nvSpPr>
        <p:spPr>
          <a:xfrm>
            <a:off x="887760" y="5684400"/>
            <a:ext cx="3842640" cy="9446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Maintain a map with cell status: unknown, free, blocked or risky.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Do not treat unknown cells as confirmed safe; sense before entering when possible.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Track accumulated path cost separately from Manhattan distance.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Replan after new obstacle information or a change in risk assessment.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9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Stop and request assistance if no safe reachable frontier remains.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4" name="Table 3"/>
          <p:cNvGraphicFramePr>
            <a:graphicFrameLocks/>
          </p:cNvGraphicFramePr>
          <p:nvPr/>
        </p:nvGraphicFramePr>
        <p:xfrm>
          <a:off x="660240" y="1292760"/>
          <a:ext cx="6451200" cy="14587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49920"/>
                <a:gridCol w="2149920"/>
                <a:gridCol w="2151360"/>
              </a:tblGrid>
              <a:tr h="23220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87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7822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Main method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8521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Key result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Doctor shifts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 satisfaction + backtracking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D2—Morning, D1—Afternoon, D3—Night.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5×5 robot grid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925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Breadth-First Search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Illustrative grid yields an 8-move shortest path;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exact answer depends on obstacle layout.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86440">
                <a:tc>
                  <a:txBody>
                    <a:bodyPr anchor="t" bIns="0" lIns="0" rIns="0" tIns="18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Rescue robot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800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Online search agent + UCS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Minimizes accumulated movement and risk costs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on the known map, replanning as information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changes.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5" name="Table 4"/>
          <p:cNvGraphicFramePr>
            <a:graphicFrameLocks/>
          </p:cNvGraphicFramePr>
          <p:nvPr/>
        </p:nvGraphicFramePr>
        <p:xfrm>
          <a:off x="660240" y="4718160"/>
          <a:ext cx="6451200" cy="20826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49920"/>
                <a:gridCol w="2149920"/>
                <a:gridCol w="2151360"/>
              </a:tblGrid>
              <a:tr h="233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87012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Criterion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84204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Weightage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25668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sz="650" lang="en-US" spc="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What a strong response demonstrates</a:t>
                      </a:r>
                      <a:endParaRPr b="0" sz="65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Problem understanding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Defines the problem and identifies all relevant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constraints accurately.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 analysis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Analyses constraints effectively and prioritises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them logically.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Solution development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Develops feasible solutions satisfying all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Application of concepts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15%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Applies appropriate concepts, methods or tools.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94920"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Justification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8856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10%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sz="65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Provides strong justification with logical 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8760">
                        <a:lnSpc>
                          <a:spcPts val="879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sz="65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reasoning.</a:t>
                      </a:r>
                      <a:endParaRPr b="0" sz="65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12" name="TextBox 2"/>
          <p:cNvSpPr/>
          <p:nvPr/>
        </p:nvSpPr>
        <p:spPr>
          <a:xfrm>
            <a:off x="659160" y="596880"/>
            <a:ext cx="2998080" cy="609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sz="1500" lang="en" spc="6" strike="noStrike" u="none">
                <a:solidFill>
                  <a:srgbClr val="000000"/>
                </a:solidFill>
                <a:latin typeface="Times New Roman"/>
              </a:rPr>
              <a:t>Summary and Assessment Checklist </a:t>
            </a:r>
            <a:endParaRPr b="0" sz="15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sz="1100" lang="en-US" spc="-3" strike="noStrike" u="none">
                <a:solidFill>
                  <a:srgbClr val="000000"/>
                </a:solidFill>
                <a:latin typeface="Times New Roman"/>
              </a:rPr>
              <a:t>Summary of solutions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3" name="TextBox 5"/>
          <p:cNvSpPr/>
          <p:nvPr/>
        </p:nvSpPr>
        <p:spPr>
          <a:xfrm>
            <a:off x="659160" y="3075840"/>
            <a:ext cx="3879360" cy="383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1" sz="1100" lang="en" spc="3" strike="noStrike" u="none">
                <a:solidFill>
                  <a:srgbClr val="000000"/>
                </a:solidFill>
                <a:latin typeface="Times New Roman"/>
              </a:rPr>
              <a:t>Submission checklist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28600">
              <a:lnSpc>
                <a:spcPts val="989"/>
              </a:lnSpc>
              <a:spcBef>
                <a:spcPts val="79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Show the constraint checks and backtracking decisions for the doctor schedule.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4" name="TextBox 6"/>
          <p:cNvSpPr/>
          <p:nvPr/>
        </p:nvSpPr>
        <p:spPr>
          <a:xfrm>
            <a:off x="659160" y="3526920"/>
            <a:ext cx="51840" cy="7513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091"/>
              </a:lnSpc>
              <a:tabLst>
                <a:tab algn="l" pos="0"/>
              </a:tabLst>
            </a:pPr>
            <a:r>
              <a:rPr b="0" sz="9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490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sz="9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5" name="TextBox 7"/>
          <p:cNvSpPr/>
          <p:nvPr/>
        </p:nvSpPr>
        <p:spPr>
          <a:xfrm>
            <a:off x="887760" y="3539520"/>
            <a:ext cx="4295880" cy="738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sz="900" lang="en" spc="-23" strike="noStrike" u="none">
                <a:solidFill>
                  <a:srgbClr val="000000"/>
                </a:solidFill>
                <a:latin typeface="Times New Roman"/>
              </a:rPr>
              <a:t>Confirm the intended 5×5 grid and obstacle positions before using the BFS path and cost.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90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Explain that Manhattan distance is a heuristic but does not control the FIFO ordering of BFS.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Use the stated risk surcharge consistently in rescue-route cost calculations.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sz="900" lang="en-US" spc="-23" strike="noStrike" u="none">
                <a:solidFill>
                  <a:srgbClr val="000000"/>
                </a:solidFill>
                <a:latin typeface="Times New Roman"/>
              </a:rPr>
              <a:t>State assumptions clearly whenever the question paper omits a grid or risk layout. </a:t>
            </a:r>
            <a:endParaRPr b="0" sz="9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6" name="TextBox 8"/>
          <p:cNvSpPr/>
          <p:nvPr/>
        </p:nvSpPr>
        <p:spPr>
          <a:xfrm>
            <a:off x="659160" y="4470480"/>
            <a:ext cx="2436840" cy="1569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sz="1100" lang="en" spc="3" strike="noStrike" u="none">
                <a:solidFill>
                  <a:srgbClr val="000000"/>
                </a:solidFill>
                <a:latin typeface="Times New Roman"/>
              </a:rPr>
              <a:t>Rubric supplied with the question paper </a:t>
            </a: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LibreOfficeDev/24.8.7.2.0$Android_AARCH64 LibreOffice_project/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SM-M066B</dc:creator>
  <dcterms:created xsi:type="dcterms:W3CDTF">2006-08-15T13:00:00Z</dcterms:created>
  <dcterms:modified xsi:type="dcterms:W3CDTF">2026-10-14T03:38:25Z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50d3d974a9ca45b3925107a233eff8c7_23</vt:lpwstr>
  </property>
</Properties>
</file>